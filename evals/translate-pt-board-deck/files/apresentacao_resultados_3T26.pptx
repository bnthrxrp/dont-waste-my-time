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Positivação 3T26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Sudeste</c:v>
                </c:pt>
                <c:pt idx="1">
                  <c:v>Sul</c:v>
                </c:pt>
                <c:pt idx="2">
                  <c:v>Centro-Oeste</c:v>
                </c:pt>
                <c:pt idx="3">
                  <c:v>Nordeste</c:v>
                </c:pt>
                <c:pt idx="4">
                  <c:v>Norte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74.8</c:v>
                </c:pt>
                <c:pt idx="1">
                  <c:v>72.1</c:v>
                </c:pt>
                <c:pt idx="2">
                  <c:v>69.0</c:v>
                </c:pt>
                <c:pt idx="3">
                  <c:v>66.4</c:v>
                </c:pt>
                <c:pt idx="4">
                  <c:v>61.7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Sudeste</c:v>
                </c:pt>
                <c:pt idx="1">
                  <c:v>Sul</c:v>
                </c:pt>
                <c:pt idx="2">
                  <c:v>Centro-Oeste</c:v>
                </c:pt>
                <c:pt idx="3">
                  <c:v>Nordeste</c:v>
                </c:pt>
                <c:pt idx="4">
                  <c:v>Norte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75.0</c:v>
                </c:pt>
                <c:pt idx="1">
                  <c:v>75.0</c:v>
                </c:pt>
                <c:pt idx="2">
                  <c:v>75.0</c:v>
                </c:pt>
                <c:pt idx="3">
                  <c:v>75.0</c:v>
                </c:pt>
                <c:pt idx="4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agradecendo a presença do board global. Reforçar que o trimestre foi positivo em sell-out, mas que a margem precisa de atenção.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Positivação = % dos PDVs da carteira com pelo menos uma compra no trimestre.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Resultados Comerciais – 3º Trimestre de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Diretoria Comercial Brasil | Vitalis Saúde |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Destaques do trimestre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Faturamento bruto de R$ 48,7 mi, +6,2% vs. 3T25 e 2,1% abaixo do orçado</a:t>
            </a:r>
          </a:p>
          <a:p>
            <a:pPr>
              <a:defRPr sz="2000"/>
            </a:pPr>
            <a:r>
              <a:t>Sell-out cresceu 9,4% (IQVIA*), acima do mercado (+5,8%)</a:t>
            </a:r>
          </a:p>
          <a:p>
            <a:pPr>
              <a:defRPr sz="2000"/>
            </a:pPr>
            <a:r>
              <a:t>Positivação de PDVs atingiu 71,3% (meta: 75,0%)</a:t>
            </a:r>
          </a:p>
          <a:p>
            <a:pPr>
              <a:defRPr sz="2000"/>
            </a:pPr>
            <a:r>
              <a:t>Ruptura média de 8,6% nas redes regionais</a:t>
            </a:r>
          </a:p>
          <a:p>
            <a:pPr>
              <a:defRPr sz="2000"/>
            </a:pPr>
            <a:r>
              <a:t>Margem de contribuição de 41,2% (-1,8 p.p. vs. 3T25) devido à maior verba promocional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Desempenho por canal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Canal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Realizado (R$ mi)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Orçado (R$ mi)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Var. vs. orçado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Var. vs. 3T25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Grandes redes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22,9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-6,6%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+3,1%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Redes regionais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+5,8%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+11,2%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Independentes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-3,0%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+4,9%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Distribuidores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+2,1%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+8,8%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48,7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-2,0%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+6,2%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Grandes redes abaixo do orçado por atraso na negociação do acordo anual com duas redes.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Positivação por região vs. meta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0" y="16459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Nordeste e Norte concentram o gap de positivação.</a:t>
            </a:r>
          </a:p>
          <a:p>
            <a:pPr>
              <a:defRPr sz="1600"/>
            </a:pPr>
            <a:r>
              <a:t>Plano de cobertura com distribuidor regional em andamento.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Margem e verba promocional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Verba promocional subiu para 9,8% do faturamento bruto (3T25: 7,6%)</a:t>
            </a:r>
          </a:p>
          <a:p>
            <a:pPr>
              <a:defRPr sz="2000"/>
            </a:pPr>
            <a:r>
              <a:t>Margem de contribuição: 41,2% vs. 43,0% no 3T25</a:t>
            </a:r>
          </a:p>
          <a:p>
            <a:pPr>
              <a:defRPr sz="2000"/>
            </a:pPr>
            <a:r>
              <a:t>Ticket médio nas farmácias independentes caiu 4,3%</a:t>
            </a:r>
          </a:p>
          <a:p>
            <a:pPr>
              <a:defRPr sz="2000"/>
            </a:pPr>
            <a:r>
              <a:t>Resultado do trimestre pressionado pela política de descontos no canal independente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*Dados de sell-out IQVIA disponíveis até agosto/26; setembro estimado pela área de Inteligência de Mercado.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Renegociar acordos comerciais com 2 grandes redes até 15/11/2026</a:t>
            </a:r>
          </a:p>
          <a:p>
            <a:pPr>
              <a:defRPr sz="2000"/>
            </a:pPr>
            <a:r>
              <a:t>Ampliar cobertura no Nordeste via distribuidor (meta: +600 PDVs até março/27)</a:t>
            </a:r>
          </a:p>
          <a:p>
            <a:pPr>
              <a:defRPr sz="2000"/>
            </a:pPr>
            <a:r>
              <a:t>Revisar política de verba: teto de 8,5% do faturamento bruto no 4T26</a:t>
            </a:r>
          </a:p>
          <a:p>
            <a:pPr>
              <a:defRPr sz="2000"/>
            </a:pPr>
            <a:r>
              <a:t>Decisão necessária: aprovar investimento de R$ 1,2 mi em trade marketing regional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