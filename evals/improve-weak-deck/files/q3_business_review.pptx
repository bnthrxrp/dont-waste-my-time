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view3D>
      <c:rotX val="30"/>
      <c:rotY val="0"/>
    </c:view3D>
    <c:plotArea>
      <c:pie3DChart>
        <c:varyColors val="1"/>
        <c:ser>
          <c:idx val="0"/>
          <c:order val="0"/>
          <c:tx>
            <c:strRef>
              <c:f>Sheet1!$B$1</c:f>
              <c:strCache>
                <c:ptCount val="1"/>
                <c:pt idx="0">
                  <c:v>Q3 revenue ($M)</c:v>
                </c:pt>
              </c:strCache>
            </c:strRef>
          </c:tx>
          <c:cat>
            <c:strRef>
              <c:f>Sheet1!$A$2:$A$9</c:f>
              <c:strCache>
                <c:ptCount val="8"/>
                <c:pt idx="0">
                  <c:v>North America</c:v>
                </c:pt>
                <c:pt idx="1">
                  <c:v>EMEA</c:v>
                </c:pt>
                <c:pt idx="2">
                  <c:v>LATAM</c:v>
                </c:pt>
                <c:pt idx="3">
                  <c:v>China</c:v>
                </c:pt>
                <c:pt idx="4">
                  <c:v>SE Asia</c:v>
                </c:pt>
                <c:pt idx="5">
                  <c:v>India</c:v>
                </c:pt>
                <c:pt idx="6">
                  <c:v>Japan/Korea</c:v>
                </c:pt>
                <c:pt idx="7">
                  <c:v>Oceania</c:v>
                </c:pt>
              </c:strCache>
            </c:strRef>
          </c:cat>
          <c:val>
            <c:numRef>
              <c:f>Sheet1!$B$2:$B$9</c:f>
              <c:numCache>
                <c:formatCode>General</c:formatCode>
                <c:ptCount val="8"/>
                <c:pt idx="0">
                  <c:v>31.4</c:v>
                </c:pt>
                <c:pt idx="1">
                  <c:v>22.8</c:v>
                </c:pt>
                <c:pt idx="2">
                  <c:v>9.7</c:v>
                </c:pt>
                <c:pt idx="3">
                  <c:v>7.9</c:v>
                </c:pt>
                <c:pt idx="4">
                  <c:v>5.6</c:v>
                </c:pt>
                <c:pt idx="5">
                  <c:v>4.1</c:v>
                </c:pt>
                <c:pt idx="6">
                  <c:v>3.2</c:v>
                </c:pt>
                <c:pt idx="7">
                  <c:v>1.5</c:v>
                </c:pt>
              </c:numCache>
            </c:numRef>
          </c:val>
        </c:ser>
      </c:pie3DChart>
    </c:plotArea>
    <c:legend>
      <c:legendPos/>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Q3 Business Review</a:t>
            </a:r>
          </a:p>
        </p:txBody>
      </p:sp>
      <p:sp>
        <p:nvSpPr>
          <p:cNvPr id="3" name="Subtitle 2"/>
          <p:cNvSpPr>
            <a:spLocks noGrp="1"/>
          </p:cNvSpPr>
          <p:nvPr>
            <p:ph type="subTitle" idx="1"/>
          </p:nvPr>
        </p:nvSpPr>
        <p:spPr/>
        <p:txBody>
          <a:bodyPr/>
          <a:lstStyle/>
          <a:p>
            <a:r>
              <a:t>Specialty Ingredients Division | Prepared by the Commercial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Box 2"/>
          <p:cNvSpPr txBox="1"/>
          <p:nvPr/>
        </p:nvSpPr>
        <p:spPr>
          <a:xfrm>
            <a:off x="640080" y="1463040"/>
            <a:ext cx="10972800" cy="4572000"/>
          </a:xfrm>
          <a:prstGeom prst="rect">
            <a:avLst/>
          </a:prstGeom>
          <a:noFill/>
        </p:spPr>
        <p:txBody>
          <a:bodyPr wrap="square">
            <a:spAutoFit/>
          </a:bodyPr>
          <a:lstStyle/>
          <a:p>
            <a:pPr>
              <a:defRPr sz="2000"/>
            </a:pPr>
            <a:r>
              <a:t>Background</a:t>
            </a:r>
          </a:p>
          <a:p>
            <a:pPr>
              <a:defRPr sz="2000"/>
            </a:pPr>
            <a:r>
              <a:t>Sales Overview</a:t>
            </a:r>
          </a:p>
          <a:p>
            <a:pPr>
              <a:defRPr sz="2000"/>
            </a:pPr>
            <a:r>
              <a:t>Market Data</a:t>
            </a:r>
          </a:p>
          <a:p>
            <a:pPr>
              <a:defRPr sz="2000"/>
            </a:pPr>
            <a:r>
              <a:t>Regional Performance</a:t>
            </a:r>
          </a:p>
          <a:p>
            <a:pPr>
              <a:defRPr sz="2000"/>
            </a:pPr>
            <a:r>
              <a:t>Customer Feedback</a:t>
            </a:r>
          </a:p>
          <a:p>
            <a:pPr>
              <a:defRPr sz="2000"/>
            </a:pPr>
            <a:r>
              <a:t>Challenges</a:t>
            </a:r>
          </a:p>
          <a:p>
            <a:pPr>
              <a:defRPr sz="2000"/>
            </a:pPr>
            <a:r>
              <a:t>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TextBox 2"/>
          <p:cNvSpPr txBox="1"/>
          <p:nvPr/>
        </p:nvSpPr>
        <p:spPr>
          <a:xfrm>
            <a:off x="640080" y="1463040"/>
            <a:ext cx="10972800" cy="4572000"/>
          </a:xfrm>
          <a:prstGeom prst="rect">
            <a:avLst/>
          </a:prstGeom>
          <a:noFill/>
        </p:spPr>
        <p:txBody>
          <a:bodyPr wrap="square">
            <a:spAutoFit/>
          </a:bodyPr>
          <a:lstStyle/>
          <a:p>
            <a:pPr>
              <a:defRPr sz="1600"/>
            </a:pPr>
            <a:r>
              <a:t>The Specialty Ingredients Division was created in 2014 through the merger of two business units and today serves food, beverage and nutrition customers in 31 countries from three plants. The division has a long history of innovation and customer intimacy, and the team continues to work hard to deliver value to our customers in a dynamic and challenging market environment. The market for specialty ingredients is large and growing, and we believe the division is well positioned to capture opportunities going forward.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 Overview</a:t>
            </a:r>
          </a:p>
        </p:txBody>
      </p:sp>
      <p:sp>
        <p:nvSpPr>
          <p:cNvPr id="3" name="TextBox 2"/>
          <p:cNvSpPr txBox="1"/>
          <p:nvPr/>
        </p:nvSpPr>
        <p:spPr>
          <a:xfrm>
            <a:off x="640080" y="1463040"/>
            <a:ext cx="10972800" cy="5029200"/>
          </a:xfrm>
          <a:prstGeom prst="rect">
            <a:avLst/>
          </a:prstGeom>
          <a:noFill/>
        </p:spPr>
        <p:txBody>
          <a:bodyPr wrap="square">
            <a:spAutoFit/>
          </a:bodyPr>
          <a:lstStyle/>
          <a:p>
            <a:pPr>
              <a:defRPr sz="1800"/>
            </a:pPr>
            <a:r>
              <a:t>Revenue was $86.2M in Q3</a:t>
            </a:r>
          </a:p>
          <a:p>
            <a:pPr>
              <a:defRPr sz="1800"/>
            </a:pPr>
            <a:r>
              <a:t>This compares to $84.9M in Q2</a:t>
            </a:r>
          </a:p>
          <a:p>
            <a:pPr>
              <a:defRPr sz="1800"/>
            </a:pPr>
            <a:r>
              <a:t>Q3 last year revenue was $88.7M</a:t>
            </a:r>
          </a:p>
          <a:p>
            <a:pPr>
              <a:defRPr sz="1800"/>
            </a:pPr>
            <a:r>
              <a:t>Gross margin was 23.4%</a:t>
            </a:r>
          </a:p>
          <a:p>
            <a:pPr>
              <a:defRPr sz="1800"/>
            </a:pPr>
            <a:r>
              <a:t>Gross margin last year was 27.9%</a:t>
            </a:r>
          </a:p>
          <a:p>
            <a:pPr>
              <a:defRPr sz="1800"/>
            </a:pPr>
            <a:r>
              <a:t>Volume was 41,300 tonnes (Q3 last year: 40,100 tonnes)</a:t>
            </a:r>
          </a:p>
          <a:p>
            <a:pPr>
              <a:defRPr sz="1800"/>
            </a:pPr>
            <a:r>
              <a:t>Pricing was broadly stable</a:t>
            </a:r>
          </a:p>
          <a:p>
            <a:pPr>
              <a:defRPr sz="1800"/>
            </a:pPr>
            <a:r>
              <a:t>Raw material costs increased</a:t>
            </a:r>
          </a:p>
          <a:p>
            <a:pPr>
              <a:defRPr sz="1800"/>
            </a:pPr>
            <a:r>
              <a:t>Mix was slightly negative</a:t>
            </a:r>
          </a:p>
          <a:p>
            <a:pPr>
              <a:defRPr sz="1800"/>
            </a:pPr>
            <a:r>
              <a:t>EMEA was weaker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Data</a:t>
            </a:r>
          </a:p>
        </p:txBody>
      </p:sp>
      <p:graphicFrame>
        <p:nvGraphicFramePr>
          <p:cNvPr id="3" name="Chart 2"/>
          <p:cNvGraphicFramePr>
            <a:graphicFrameLocks noGrp="1"/>
          </p:cNvGraphicFramePr>
          <p:nvPr/>
        </p:nvGraphicFramePr>
        <p:xfrm>
          <a:off x="640080" y="1371600"/>
          <a:ext cx="6858000" cy="5029200"/>
        </p:xfrm>
        <a:graphic>
          <a:graphicData uri="http://schemas.openxmlformats.org/drawingml/2006/chart">
            <c:chart xmlns:c="http://schemas.openxmlformats.org/drawingml/2006/chart" r:id="rId2"/>
          </a:graphicData>
        </a:graphic>
      </p:graphicFrame>
      <p:sp>
        <p:nvSpPr>
          <p:cNvPr id="4" name="TextBox 3"/>
          <p:cNvSpPr txBox="1"/>
          <p:nvPr/>
        </p:nvSpPr>
        <p:spPr>
          <a:xfrm>
            <a:off x="7772400" y="1828800"/>
            <a:ext cx="3931920" cy="3657600"/>
          </a:xfrm>
          <a:prstGeom prst="rect">
            <a:avLst/>
          </a:prstGeom>
          <a:noFill/>
        </p:spPr>
        <p:txBody>
          <a:bodyPr wrap="square">
            <a:spAutoFit/>
          </a:bodyPr>
          <a:lstStyle/>
          <a:p>
            <a:pPr>
              <a:defRPr sz="1600"/>
            </a:pPr>
            <a:r>
              <a:t>Market grew 3% in Q3</a:t>
            </a:r>
          </a:p>
          <a:p>
            <a:pPr>
              <a:defRPr sz="1600"/>
            </a:pPr>
            <a:r>
              <a:t>North America is our biggest region</a:t>
            </a:r>
          </a:p>
          <a:p>
            <a:pPr>
              <a:defRPr sz="1600"/>
            </a:pPr>
            <a:r>
              <a:t>Competition remains intense</a:t>
            </a:r>
          </a:p>
          <a:p>
            <a:pPr>
              <a:defRPr sz="1600"/>
            </a:pPr>
            <a:r>
              <a:t>The market is large and growing (see Background)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Performance</a:t>
            </a:r>
          </a:p>
        </p:txBody>
      </p:sp>
      <p:graphicFrame>
        <p:nvGraphicFramePr>
          <p:cNvPr id="3" name="Table 2"/>
          <p:cNvGraphicFramePr>
            <a:graphicFrameLocks noGrp="1"/>
          </p:cNvGraphicFramePr>
          <p:nvPr/>
        </p:nvGraphicFramePr>
        <p:xfrm>
          <a:off x="457200" y="1371600"/>
          <a:ext cx="11247120" cy="4389120"/>
        </p:xfrm>
        <a:graphic>
          <a:graphicData uri="http://schemas.openxmlformats.org/drawingml/2006/table">
            <a:tbl>
              <a:tblPr firstRow="1" bandRow="1">
                <a:tableStyleId>{5C22544A-7EE6-4342-B048-85BDC9FD1C3A}</a:tableStyleId>
              </a:tblPr>
              <a:tblGrid>
                <a:gridCol w="1606731"/>
                <a:gridCol w="1606731"/>
                <a:gridCol w="1606731"/>
                <a:gridCol w="1606731"/>
                <a:gridCol w="1606731"/>
                <a:gridCol w="1606731"/>
                <a:gridCol w="1606734"/>
              </a:tblGrid>
              <a:tr h="487680">
                <a:tc>
                  <a:txBody>
                    <a:bodyPr/>
                    <a:lstStyle/>
                    <a:p>
                      <a:pPr>
                        <a:defRPr sz="1300"/>
                      </a:pPr>
                      <a:r>
                        <a:t>Region</a:t>
                      </a:r>
                    </a:p>
                  </a:txBody>
                  <a:tcPr/>
                </a:tc>
                <a:tc>
                  <a:txBody>
                    <a:bodyPr/>
                    <a:lstStyle/>
                    <a:p>
                      <a:pPr>
                        <a:defRPr sz="1300"/>
                      </a:pPr>
                      <a:r>
                        <a:t>Rev Q3 ($M)</a:t>
                      </a:r>
                    </a:p>
                  </a:txBody>
                  <a:tcPr/>
                </a:tc>
                <a:tc>
                  <a:txBody>
                    <a:bodyPr/>
                    <a:lstStyle/>
                    <a:p>
                      <a:pPr>
                        <a:defRPr sz="1300"/>
                      </a:pPr>
                      <a:r>
                        <a:t>Rev Q3 PY</a:t>
                      </a:r>
                    </a:p>
                  </a:txBody>
                  <a:tcPr/>
                </a:tc>
                <a:tc>
                  <a:txBody>
                    <a:bodyPr/>
                    <a:lstStyle/>
                    <a:p>
                      <a:pPr>
                        <a:defRPr sz="1300"/>
                      </a:pPr>
                      <a:r>
                        <a:t>GM% Q3</a:t>
                      </a:r>
                    </a:p>
                  </a:txBody>
                  <a:tcPr/>
                </a:tc>
                <a:tc>
                  <a:txBody>
                    <a:bodyPr/>
                    <a:lstStyle/>
                    <a:p>
                      <a:pPr>
                        <a:defRPr sz="1300"/>
                      </a:pPr>
                      <a:r>
                        <a:t>GM% PY</a:t>
                      </a:r>
                    </a:p>
                  </a:txBody>
                  <a:tcPr/>
                </a:tc>
                <a:tc>
                  <a:txBody>
                    <a:bodyPr/>
                    <a:lstStyle/>
                    <a:p>
                      <a:pPr>
                        <a:defRPr sz="1300"/>
                      </a:pPr>
                      <a:r>
                        <a:t>Vol (kt)</a:t>
                      </a:r>
                    </a:p>
                  </a:txBody>
                  <a:tcPr/>
                </a:tc>
                <a:tc>
                  <a:txBody>
                    <a:bodyPr/>
                    <a:lstStyle/>
                    <a:p>
                      <a:pPr>
                        <a:defRPr sz="1300"/>
                      </a:pPr>
                      <a:r>
                        <a:t>Vol PY (kt)</a:t>
                      </a:r>
                    </a:p>
                  </a:txBody>
                  <a:tcPr/>
                </a:tc>
              </a:tr>
              <a:tr h="487680">
                <a:tc>
                  <a:txBody>
                    <a:bodyPr/>
                    <a:lstStyle/>
                    <a:p>
                      <a:pPr>
                        <a:defRPr sz="1300"/>
                      </a:pPr>
                      <a:r>
                        <a:t>North America</a:t>
                      </a:r>
                    </a:p>
                  </a:txBody>
                  <a:tcPr/>
                </a:tc>
                <a:tc>
                  <a:txBody>
                    <a:bodyPr/>
                    <a:lstStyle/>
                    <a:p>
                      <a:pPr>
                        <a:defRPr sz="1300"/>
                      </a:pPr>
                      <a:r>
                        <a:t>31.4</a:t>
                      </a:r>
                    </a:p>
                  </a:txBody>
                  <a:tcPr/>
                </a:tc>
                <a:tc>
                  <a:txBody>
                    <a:bodyPr/>
                    <a:lstStyle/>
                    <a:p>
                      <a:pPr>
                        <a:defRPr sz="1300"/>
                      </a:pPr>
                      <a:r>
                        <a:t>31.0</a:t>
                      </a:r>
                    </a:p>
                  </a:txBody>
                  <a:tcPr/>
                </a:tc>
                <a:tc>
                  <a:txBody>
                    <a:bodyPr/>
                    <a:lstStyle/>
                    <a:p>
                      <a:pPr>
                        <a:defRPr sz="1300"/>
                      </a:pPr>
                      <a:r>
                        <a:t>25.1%</a:t>
                      </a:r>
                    </a:p>
                  </a:txBody>
                  <a:tcPr/>
                </a:tc>
                <a:tc>
                  <a:txBody>
                    <a:bodyPr/>
                    <a:lstStyle/>
                    <a:p>
                      <a:pPr>
                        <a:defRPr sz="1300"/>
                      </a:pPr>
                      <a:r>
                        <a:t>28.4%</a:t>
                      </a:r>
                    </a:p>
                  </a:txBody>
                  <a:tcPr/>
                </a:tc>
                <a:tc>
                  <a:txBody>
                    <a:bodyPr/>
                    <a:lstStyle/>
                    <a:p>
                      <a:pPr>
                        <a:defRPr sz="1300"/>
                      </a:pPr>
                      <a:r>
                        <a:t>15.2</a:t>
                      </a:r>
                    </a:p>
                  </a:txBody>
                  <a:tcPr/>
                </a:tc>
                <a:tc>
                  <a:txBody>
                    <a:bodyPr/>
                    <a:lstStyle/>
                    <a:p>
                      <a:pPr>
                        <a:defRPr sz="1300"/>
                      </a:pPr>
                      <a:r>
                        <a:t>14.6</a:t>
                      </a:r>
                    </a:p>
                  </a:txBody>
                  <a:tcPr/>
                </a:tc>
              </a:tr>
              <a:tr h="487680">
                <a:tc>
                  <a:txBody>
                    <a:bodyPr/>
                    <a:lstStyle/>
                    <a:p>
                      <a:pPr>
                        <a:defRPr sz="1300"/>
                      </a:pPr>
                      <a:r>
                        <a:t>EMEA</a:t>
                      </a:r>
                    </a:p>
                  </a:txBody>
                  <a:tcPr/>
                </a:tc>
                <a:tc>
                  <a:txBody>
                    <a:bodyPr/>
                    <a:lstStyle/>
                    <a:p>
                      <a:pPr>
                        <a:defRPr sz="1300"/>
                      </a:pPr>
                      <a:r>
                        <a:t>22.8</a:t>
                      </a:r>
                    </a:p>
                  </a:txBody>
                  <a:tcPr/>
                </a:tc>
                <a:tc>
                  <a:txBody>
                    <a:bodyPr/>
                    <a:lstStyle/>
                    <a:p>
                      <a:pPr>
                        <a:defRPr sz="1300"/>
                      </a:pPr>
                      <a:r>
                        <a:t>25.6</a:t>
                      </a:r>
                    </a:p>
                  </a:txBody>
                  <a:tcPr/>
                </a:tc>
                <a:tc>
                  <a:txBody>
                    <a:bodyPr/>
                    <a:lstStyle/>
                    <a:p>
                      <a:pPr>
                        <a:defRPr sz="1300"/>
                      </a:pPr>
                      <a:r>
                        <a:t>19.8%</a:t>
                      </a:r>
                    </a:p>
                  </a:txBody>
                  <a:tcPr/>
                </a:tc>
                <a:tc>
                  <a:txBody>
                    <a:bodyPr/>
                    <a:lstStyle/>
                    <a:p>
                      <a:pPr>
                        <a:defRPr sz="1300"/>
                      </a:pPr>
                      <a:r>
                        <a:t>26.0%</a:t>
                      </a:r>
                    </a:p>
                  </a:txBody>
                  <a:tcPr/>
                </a:tc>
                <a:tc>
                  <a:txBody>
                    <a:bodyPr/>
                    <a:lstStyle/>
                    <a:p>
                      <a:pPr>
                        <a:defRPr sz="1300"/>
                      </a:pPr>
                      <a:r>
                        <a:t>10.9</a:t>
                      </a:r>
                    </a:p>
                  </a:txBody>
                  <a:tcPr/>
                </a:tc>
                <a:tc>
                  <a:txBody>
                    <a:bodyPr/>
                    <a:lstStyle/>
                    <a:p>
                      <a:pPr>
                        <a:defRPr sz="1300"/>
                      </a:pPr>
                      <a:r>
                        <a:t>11.1</a:t>
                      </a:r>
                    </a:p>
                  </a:txBody>
                  <a:tcPr/>
                </a:tc>
              </a:tr>
              <a:tr h="487680">
                <a:tc>
                  <a:txBody>
                    <a:bodyPr/>
                    <a:lstStyle/>
                    <a:p>
                      <a:pPr>
                        <a:defRPr sz="1300"/>
                      </a:pPr>
                      <a:r>
                        <a:t>LATAM</a:t>
                      </a:r>
                    </a:p>
                  </a:txBody>
                  <a:tcPr/>
                </a:tc>
                <a:tc>
                  <a:txBody>
                    <a:bodyPr/>
                    <a:lstStyle/>
                    <a:p>
                      <a:pPr>
                        <a:defRPr sz="1300"/>
                      </a:pPr>
                      <a:r>
                        <a:t>9.7</a:t>
                      </a:r>
                    </a:p>
                  </a:txBody>
                  <a:tcPr/>
                </a:tc>
                <a:tc>
                  <a:txBody>
                    <a:bodyPr/>
                    <a:lstStyle/>
                    <a:p>
                      <a:pPr>
                        <a:defRPr sz="1300"/>
                      </a:pPr>
                      <a:r>
                        <a:t>9.5</a:t>
                      </a:r>
                    </a:p>
                  </a:txBody>
                  <a:tcPr/>
                </a:tc>
                <a:tc>
                  <a:txBody>
                    <a:bodyPr/>
                    <a:lstStyle/>
                    <a:p>
                      <a:pPr>
                        <a:defRPr sz="1300"/>
                      </a:pPr>
                      <a:r>
                        <a:t>22.3%</a:t>
                      </a:r>
                    </a:p>
                  </a:txBody>
                  <a:tcPr/>
                </a:tc>
                <a:tc>
                  <a:txBody>
                    <a:bodyPr/>
                    <a:lstStyle/>
                    <a:p>
                      <a:pPr>
                        <a:defRPr sz="1300"/>
                      </a:pPr>
                      <a:r>
                        <a:t>27.7%</a:t>
                      </a:r>
                    </a:p>
                  </a:txBody>
                  <a:tcPr/>
                </a:tc>
                <a:tc>
                  <a:txBody>
                    <a:bodyPr/>
                    <a:lstStyle/>
                    <a:p>
                      <a:pPr>
                        <a:defRPr sz="1300"/>
                      </a:pPr>
                      <a:r>
                        <a:t>4.6</a:t>
                      </a:r>
                    </a:p>
                  </a:txBody>
                  <a:tcPr/>
                </a:tc>
                <a:tc>
                  <a:txBody>
                    <a:bodyPr/>
                    <a:lstStyle/>
                    <a:p>
                      <a:pPr>
                        <a:defRPr sz="1300"/>
                      </a:pPr>
                      <a:r>
                        <a:t>4.4</a:t>
                      </a:r>
                    </a:p>
                  </a:txBody>
                  <a:tcPr/>
                </a:tc>
              </a:tr>
              <a:tr h="487680">
                <a:tc>
                  <a:txBody>
                    <a:bodyPr/>
                    <a:lstStyle/>
                    <a:p>
                      <a:pPr>
                        <a:defRPr sz="1300"/>
                      </a:pPr>
                      <a:r>
                        <a:t>China</a:t>
                      </a:r>
                    </a:p>
                  </a:txBody>
                  <a:tcPr/>
                </a:tc>
                <a:tc>
                  <a:txBody>
                    <a:bodyPr/>
                    <a:lstStyle/>
                    <a:p>
                      <a:pPr>
                        <a:defRPr sz="1300"/>
                      </a:pPr>
                      <a:r>
                        <a:t>7.9</a:t>
                      </a:r>
                    </a:p>
                  </a:txBody>
                  <a:tcPr/>
                </a:tc>
                <a:tc>
                  <a:txBody>
                    <a:bodyPr/>
                    <a:lstStyle/>
                    <a:p>
                      <a:pPr>
                        <a:defRPr sz="1300"/>
                      </a:pPr>
                      <a:r>
                        <a:t>8.1</a:t>
                      </a:r>
                    </a:p>
                  </a:txBody>
                  <a:tcPr/>
                </a:tc>
                <a:tc>
                  <a:txBody>
                    <a:bodyPr/>
                    <a:lstStyle/>
                    <a:p>
                      <a:pPr>
                        <a:defRPr sz="1300"/>
                      </a:pPr>
                      <a:r>
                        <a:t>24.9%</a:t>
                      </a:r>
                    </a:p>
                  </a:txBody>
                  <a:tcPr/>
                </a:tc>
                <a:tc>
                  <a:txBody>
                    <a:bodyPr/>
                    <a:lstStyle/>
                    <a:p>
                      <a:pPr>
                        <a:defRPr sz="1300"/>
                      </a:pPr>
                      <a:r>
                        <a:t>28.8%</a:t>
                      </a:r>
                    </a:p>
                  </a:txBody>
                  <a:tcPr/>
                </a:tc>
                <a:tc>
                  <a:txBody>
                    <a:bodyPr/>
                    <a:lstStyle/>
                    <a:p>
                      <a:pPr>
                        <a:defRPr sz="1300"/>
                      </a:pPr>
                      <a:r>
                        <a:t>3.9</a:t>
                      </a:r>
                    </a:p>
                  </a:txBody>
                  <a:tcPr/>
                </a:tc>
                <a:tc>
                  <a:txBody>
                    <a:bodyPr/>
                    <a:lstStyle/>
                    <a:p>
                      <a:pPr>
                        <a:defRPr sz="1300"/>
                      </a:pPr>
                      <a:r>
                        <a:t>3.8</a:t>
                      </a:r>
                    </a:p>
                  </a:txBody>
                  <a:tcPr/>
                </a:tc>
              </a:tr>
              <a:tr h="487680">
                <a:tc>
                  <a:txBody>
                    <a:bodyPr/>
                    <a:lstStyle/>
                    <a:p>
                      <a:pPr>
                        <a:defRPr sz="1300"/>
                      </a:pPr>
                      <a:r>
                        <a:t>SE Asia</a:t>
                      </a:r>
                    </a:p>
                  </a:txBody>
                  <a:tcPr/>
                </a:tc>
                <a:tc>
                  <a:txBody>
                    <a:bodyPr/>
                    <a:lstStyle/>
                    <a:p>
                      <a:pPr>
                        <a:defRPr sz="1300"/>
                      </a:pPr>
                      <a:r>
                        <a:t>5.6</a:t>
                      </a:r>
                    </a:p>
                  </a:txBody>
                  <a:tcPr/>
                </a:tc>
                <a:tc>
                  <a:txBody>
                    <a:bodyPr/>
                    <a:lstStyle/>
                    <a:p>
                      <a:pPr>
                        <a:defRPr sz="1300"/>
                      </a:pPr>
                      <a:r>
                        <a:t>5.4</a:t>
                      </a:r>
                    </a:p>
                  </a:txBody>
                  <a:tcPr/>
                </a:tc>
                <a:tc>
                  <a:txBody>
                    <a:bodyPr/>
                    <a:lstStyle/>
                    <a:p>
                      <a:pPr>
                        <a:defRPr sz="1300"/>
                      </a:pPr>
                      <a:r>
                        <a:t>26.2%</a:t>
                      </a:r>
                    </a:p>
                  </a:txBody>
                  <a:tcPr/>
                </a:tc>
                <a:tc>
                  <a:txBody>
                    <a:bodyPr/>
                    <a:lstStyle/>
                    <a:p>
                      <a:pPr>
                        <a:defRPr sz="1300"/>
                      </a:pPr>
                      <a:r>
                        <a:t>29.5%</a:t>
                      </a:r>
                    </a:p>
                  </a:txBody>
                  <a:tcPr/>
                </a:tc>
                <a:tc>
                  <a:txBody>
                    <a:bodyPr/>
                    <a:lstStyle/>
                    <a:p>
                      <a:pPr>
                        <a:defRPr sz="1300"/>
                      </a:pPr>
                      <a:r>
                        <a:t>2.7</a:t>
                      </a:r>
                    </a:p>
                  </a:txBody>
                  <a:tcPr/>
                </a:tc>
                <a:tc>
                  <a:txBody>
                    <a:bodyPr/>
                    <a:lstStyle/>
                    <a:p>
                      <a:pPr>
                        <a:defRPr sz="1300"/>
                      </a:pPr>
                      <a:r>
                        <a:t>2.5</a:t>
                      </a:r>
                    </a:p>
                  </a:txBody>
                  <a:tcPr/>
                </a:tc>
              </a:tr>
              <a:tr h="487680">
                <a:tc>
                  <a:txBody>
                    <a:bodyPr/>
                    <a:lstStyle/>
                    <a:p>
                      <a:pPr>
                        <a:defRPr sz="1300"/>
                      </a:pPr>
                      <a:r>
                        <a:t>India</a:t>
                      </a:r>
                    </a:p>
                  </a:txBody>
                  <a:tcPr/>
                </a:tc>
                <a:tc>
                  <a:txBody>
                    <a:bodyPr/>
                    <a:lstStyle/>
                    <a:p>
                      <a:pPr>
                        <a:defRPr sz="1300"/>
                      </a:pPr>
                      <a:r>
                        <a:t>4.1</a:t>
                      </a:r>
                    </a:p>
                  </a:txBody>
                  <a:tcPr/>
                </a:tc>
                <a:tc>
                  <a:txBody>
                    <a:bodyPr/>
                    <a:lstStyle/>
                    <a:p>
                      <a:pPr>
                        <a:defRPr sz="1300"/>
                      </a:pPr>
                      <a:r>
                        <a:t>3.9</a:t>
                      </a:r>
                    </a:p>
                  </a:txBody>
                  <a:tcPr/>
                </a:tc>
                <a:tc>
                  <a:txBody>
                    <a:bodyPr/>
                    <a:lstStyle/>
                    <a:p>
                      <a:pPr>
                        <a:defRPr sz="1300"/>
                      </a:pPr>
                      <a:r>
                        <a:t>24.0%</a:t>
                      </a:r>
                    </a:p>
                  </a:txBody>
                  <a:tcPr/>
                </a:tc>
                <a:tc>
                  <a:txBody>
                    <a:bodyPr/>
                    <a:lstStyle/>
                    <a:p>
                      <a:pPr>
                        <a:defRPr sz="1300"/>
                      </a:pPr>
                      <a:r>
                        <a:t>27.1%</a:t>
                      </a:r>
                    </a:p>
                  </a:txBody>
                  <a:tcPr/>
                </a:tc>
                <a:tc>
                  <a:txBody>
                    <a:bodyPr/>
                    <a:lstStyle/>
                    <a:p>
                      <a:pPr>
                        <a:defRPr sz="1300"/>
                      </a:pPr>
                      <a:r>
                        <a:t>2.0</a:t>
                      </a:r>
                    </a:p>
                  </a:txBody>
                  <a:tcPr/>
                </a:tc>
                <a:tc>
                  <a:txBody>
                    <a:bodyPr/>
                    <a:lstStyle/>
                    <a:p>
                      <a:pPr>
                        <a:defRPr sz="1300"/>
                      </a:pPr>
                      <a:r>
                        <a:t>1.9</a:t>
                      </a:r>
                    </a:p>
                  </a:txBody>
                  <a:tcPr/>
                </a:tc>
              </a:tr>
              <a:tr h="487680">
                <a:tc>
                  <a:txBody>
                    <a:bodyPr/>
                    <a:lstStyle/>
                    <a:p>
                      <a:pPr>
                        <a:defRPr sz="1300"/>
                      </a:pPr>
                      <a:r>
                        <a:t>Japan/Korea</a:t>
                      </a:r>
                    </a:p>
                  </a:txBody>
                  <a:tcPr/>
                </a:tc>
                <a:tc>
                  <a:txBody>
                    <a:bodyPr/>
                    <a:lstStyle/>
                    <a:p>
                      <a:pPr>
                        <a:defRPr sz="1300"/>
                      </a:pPr>
                      <a:r>
                        <a:t>3.2</a:t>
                      </a:r>
                    </a:p>
                  </a:txBody>
                  <a:tcPr/>
                </a:tc>
                <a:tc>
                  <a:txBody>
                    <a:bodyPr/>
                    <a:lstStyle/>
                    <a:p>
                      <a:pPr>
                        <a:defRPr sz="1300"/>
                      </a:pPr>
                      <a:r>
                        <a:t>3.6</a:t>
                      </a:r>
                    </a:p>
                  </a:txBody>
                  <a:tcPr/>
                </a:tc>
                <a:tc>
                  <a:txBody>
                    <a:bodyPr/>
                    <a:lstStyle/>
                    <a:p>
                      <a:pPr>
                        <a:defRPr sz="1300"/>
                      </a:pPr>
                      <a:r>
                        <a:t>27.5%</a:t>
                      </a:r>
                    </a:p>
                  </a:txBody>
                  <a:tcPr/>
                </a:tc>
                <a:tc>
                  <a:txBody>
                    <a:bodyPr/>
                    <a:lstStyle/>
                    <a:p>
                      <a:pPr>
                        <a:defRPr sz="1300"/>
                      </a:pPr>
                      <a:r>
                        <a:t>31.2%</a:t>
                      </a:r>
                    </a:p>
                  </a:txBody>
                  <a:tcPr/>
                </a:tc>
                <a:tc>
                  <a:txBody>
                    <a:bodyPr/>
                    <a:lstStyle/>
                    <a:p>
                      <a:pPr>
                        <a:defRPr sz="1300"/>
                      </a:pPr>
                      <a:r>
                        <a:t>1.4</a:t>
                      </a:r>
                    </a:p>
                  </a:txBody>
                  <a:tcPr/>
                </a:tc>
                <a:tc>
                  <a:txBody>
                    <a:bodyPr/>
                    <a:lstStyle/>
                    <a:p>
                      <a:pPr>
                        <a:defRPr sz="1300"/>
                      </a:pPr>
                      <a:r>
                        <a:t>1.3</a:t>
                      </a:r>
                    </a:p>
                  </a:txBody>
                  <a:tcPr/>
                </a:tc>
              </a:tr>
              <a:tr h="487680">
                <a:tc>
                  <a:txBody>
                    <a:bodyPr/>
                    <a:lstStyle/>
                    <a:p>
                      <a:pPr>
                        <a:defRPr sz="1300"/>
                      </a:pPr>
                      <a:r>
                        <a:t>Oceania</a:t>
                      </a:r>
                    </a:p>
                  </a:txBody>
                  <a:tcPr/>
                </a:tc>
                <a:tc>
                  <a:txBody>
                    <a:bodyPr/>
                    <a:lstStyle/>
                    <a:p>
                      <a:pPr>
                        <a:defRPr sz="1300"/>
                      </a:pPr>
                      <a:r>
                        <a:t>1.5</a:t>
                      </a:r>
                    </a:p>
                  </a:txBody>
                  <a:tcPr/>
                </a:tc>
                <a:tc>
                  <a:txBody>
                    <a:bodyPr/>
                    <a:lstStyle/>
                    <a:p>
                      <a:pPr>
                        <a:defRPr sz="1300"/>
                      </a:pPr>
                      <a:r>
                        <a:t>1.6</a:t>
                      </a:r>
                    </a:p>
                  </a:txBody>
                  <a:tcPr/>
                </a:tc>
                <a:tc>
                  <a:txBody>
                    <a:bodyPr/>
                    <a:lstStyle/>
                    <a:p>
                      <a:pPr>
                        <a:defRPr sz="1300"/>
                      </a:pPr>
                      <a:r>
                        <a:t>21.0%</a:t>
                      </a:r>
                    </a:p>
                  </a:txBody>
                  <a:tcPr/>
                </a:tc>
                <a:tc>
                  <a:txBody>
                    <a:bodyPr/>
                    <a:lstStyle/>
                    <a:p>
                      <a:pPr>
                        <a:defRPr sz="1300"/>
                      </a:pPr>
                      <a:r>
                        <a:t>25.9%</a:t>
                      </a:r>
                    </a:p>
                  </a:txBody>
                  <a:tcPr/>
                </a:tc>
                <a:tc>
                  <a:txBody>
                    <a:bodyPr/>
                    <a:lstStyle/>
                    <a:p>
                      <a:pPr>
                        <a:defRPr sz="1300"/>
                      </a:pPr>
                      <a:r>
                        <a:t>0.6</a:t>
                      </a:r>
                    </a:p>
                  </a:txBody>
                  <a:tcPr/>
                </a:tc>
                <a:tc>
                  <a:txBody>
                    <a:bodyPr/>
                    <a:lstStyle/>
                    <a:p>
                      <a:pPr>
                        <a:defRPr sz="1300"/>
                      </a:pPr>
                      <a:r>
                        <a:t>0.5</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Feedback</a:t>
            </a:r>
          </a:p>
        </p:txBody>
      </p:sp>
      <p:sp>
        <p:nvSpPr>
          <p:cNvPr id="3" name="TextBox 2"/>
          <p:cNvSpPr txBox="1"/>
          <p:nvPr/>
        </p:nvSpPr>
        <p:spPr>
          <a:xfrm>
            <a:off x="640080" y="1463040"/>
            <a:ext cx="10972800" cy="4572000"/>
          </a:xfrm>
          <a:prstGeom prst="rect">
            <a:avLst/>
          </a:prstGeom>
          <a:noFill/>
        </p:spPr>
        <p:txBody>
          <a:bodyPr wrap="square">
            <a:spAutoFit/>
          </a:bodyPr>
          <a:lstStyle/>
          <a:p>
            <a:pPr>
              <a:defRPr sz="1800"/>
            </a:pPr>
            <a:r>
              <a:t>"Service levels have improved since Q2" — key account, North America</a:t>
            </a:r>
          </a:p>
          <a:p>
            <a:pPr>
              <a:defRPr sz="1800"/>
            </a:pPr>
            <a:r>
              <a:t>"Your prices are higher than Competitor X in EMEA" — distributor, Germany</a:t>
            </a:r>
          </a:p>
          <a:p>
            <a:pPr>
              <a:defRPr sz="1800"/>
            </a:pPr>
            <a:r>
              <a:t>"We value the technical support" — global beverage customer</a:t>
            </a:r>
          </a:p>
          <a:p>
            <a:pPr>
              <a:defRPr sz="1800"/>
            </a:pPr>
            <a:r>
              <a:t>NPS was 41 (Q2: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a:t>
            </a:r>
          </a:p>
        </p:txBody>
      </p:sp>
      <p:sp>
        <p:nvSpPr>
          <p:cNvPr id="3" name="TextBox 2"/>
          <p:cNvSpPr txBox="1"/>
          <p:nvPr/>
        </p:nvSpPr>
        <p:spPr>
          <a:xfrm>
            <a:off x="640080" y="1463040"/>
            <a:ext cx="10972800" cy="4572000"/>
          </a:xfrm>
          <a:prstGeom prst="rect">
            <a:avLst/>
          </a:prstGeom>
          <a:noFill/>
        </p:spPr>
        <p:txBody>
          <a:bodyPr wrap="square">
            <a:spAutoFit/>
          </a:bodyPr>
          <a:lstStyle/>
          <a:p>
            <a:pPr>
              <a:defRPr sz="1800"/>
            </a:pPr>
            <a:r>
              <a:t>Raw material costs up 14% year over year; price increases only partly passed through (+2%)</a:t>
            </a:r>
          </a:p>
          <a:p>
            <a:pPr>
              <a:defRPr sz="1800"/>
            </a:pPr>
            <a:r>
              <a:t>Private-label supply contract with Brandt Foods priced below cost since Q1 (loses ~$1.4M per year at current volumes)</a:t>
            </a:r>
          </a:p>
          <a:p>
            <a:pPr>
              <a:defRPr sz="1800"/>
            </a:pPr>
            <a:r>
              <a:t>Plant 2 utilization at 64%</a:t>
            </a:r>
          </a:p>
          <a:p>
            <a:pPr>
              <a:defRPr sz="1800"/>
            </a:pPr>
            <a:r>
              <a:t>Competitor X price cuts in EMEA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TextBox 2"/>
          <p:cNvSpPr txBox="1"/>
          <p:nvPr/>
        </p:nvSpPr>
        <p:spPr>
          <a:xfrm>
            <a:off x="640080" y="1463040"/>
            <a:ext cx="10972800" cy="4572000"/>
          </a:xfrm>
          <a:prstGeom prst="rect">
            <a:avLst/>
          </a:prstGeom>
          <a:noFill/>
        </p:spPr>
        <p:txBody>
          <a:bodyPr wrap="square">
            <a:spAutoFit/>
          </a:bodyPr>
          <a:lstStyle/>
          <a:p>
            <a:pPr>
              <a:defRPr sz="1800"/>
            </a:pPr>
            <a:r>
              <a:t>Continue monitoring the market</a:t>
            </a:r>
          </a:p>
          <a:p>
            <a:pPr>
              <a:defRPr sz="1800"/>
            </a:pPr>
            <a:r>
              <a:t>Review pricing</a:t>
            </a:r>
          </a:p>
          <a:p>
            <a:pPr>
              <a:defRPr sz="1800"/>
            </a:pPr>
            <a:r>
              <a:t>Improve internal communication</a:t>
            </a:r>
          </a:p>
          <a:p>
            <a:pPr>
              <a:defRPr sz="1800"/>
            </a:pPr>
            <a:r>
              <a:t>Consider options for the Brandt contract (exit frees 6,800 t of Plant 2 capacity; 90-day notice must be given by Dec 31 to avoid automatic renewal for 2027)</a:t>
            </a:r>
          </a:p>
          <a:p>
            <a:pPr>
              <a:defRPr sz="1800"/>
            </a:pPr>
            <a:r>
              <a:t>Follow up with customers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